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92" r:id="rId6"/>
    <p:sldId id="293" r:id="rId7"/>
    <p:sldId id="294" r:id="rId8"/>
    <p:sldId id="295" r:id="rId9"/>
    <p:sldId id="261" r:id="rId10"/>
    <p:sldId id="288" r:id="rId11"/>
    <p:sldId id="289" r:id="rId12"/>
    <p:sldId id="296" r:id="rId13"/>
    <p:sldId id="297" r:id="rId14"/>
    <p:sldId id="266" r:id="rId15"/>
    <p:sldId id="298" r:id="rId16"/>
    <p:sldId id="267" r:id="rId17"/>
    <p:sldId id="284" r:id="rId18"/>
    <p:sldId id="285" r:id="rId19"/>
    <p:sldId id="286" r:id="rId20"/>
    <p:sldId id="287" r:id="rId21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51F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86" d="100"/>
          <a:sy n="86" d="100"/>
        </p:scale>
        <p:origin x="3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267177-92C0-BC31-570E-CA891C6EE9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328E9F8-B1E7-F2FB-6DC1-92761E3951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D2F87B3-FDBD-1A9F-DB62-E4781ACE6E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B586-6495-459E-8EC3-A7D93EFDBCE1}" type="datetimeFigureOut">
              <a:rPr lang="es-ES" smtClean="0"/>
              <a:t>24/10/2026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DF29224-E0A2-0E93-49C4-D36A15A09C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EECB381-2B8F-EB76-D417-998E0EFD8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EE5B8-1874-487D-A2B9-8A9C2E5A6EA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755542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395CB9-0BD1-35B4-FAF9-378CB4D1F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85B8136-EC72-23F2-64E6-6477287321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6E30EF5-192D-81B5-1463-FE95234EE6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B586-6495-459E-8EC3-A7D93EFDBCE1}" type="datetimeFigureOut">
              <a:rPr lang="es-ES" smtClean="0"/>
              <a:t>24/10/2026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8EEE857-137F-ABD0-5EE5-A33E69869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AF2803C-3E1C-66EA-82A5-4FC7BAE91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EE5B8-1874-487D-A2B9-8A9C2E5A6EA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695676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A3F291-2D77-9A46-C333-2DAB1F49F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5B2B43F-C960-ACD2-198E-44D6658042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CFCB0F9-6D64-0A3E-6B45-8B13344B2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B586-6495-459E-8EC3-A7D93EFDBCE1}" type="datetimeFigureOut">
              <a:rPr lang="es-ES" smtClean="0"/>
              <a:t>24/10/2026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A0D392B-5B2B-6E6B-0E88-AFD8A4726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4E71E58-7A05-714D-4ABE-34051267C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EE5B8-1874-487D-A2B9-8A9C2E5A6EA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63473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3FC1B5-2CE2-9723-3B09-174280F37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7BEA8C5-C7BF-8A08-5A12-5F1CE777C6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E1948C2-D86A-7625-A4BC-B99E808F38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0CC2290-A6D8-7ECE-248D-A8BC798661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B586-6495-459E-8EC3-A7D93EFDBCE1}" type="datetimeFigureOut">
              <a:rPr lang="es-ES" smtClean="0"/>
              <a:t>24/10/2026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4FC9AC7-0C63-5205-FF44-E15F4DD52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538C6ED-3FB4-555F-9E0F-3FBA34CCD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EE5B8-1874-487D-A2B9-8A9C2E5A6EA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91781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2A3C25-C473-2ED8-DEFB-BFD346FBF5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8BE6BCB-32D4-8720-DA0C-0BDB284CFD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9D9A45B-81CA-F3A1-3D05-389FA4A401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E6E5B00E-8782-F881-0259-077BB34D75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5FCE2277-2E7B-53A2-A586-8D79669878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DF235B1-0D04-2CF0-0F2C-F9FEF36D2D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B586-6495-459E-8EC3-A7D93EFDBCE1}" type="datetimeFigureOut">
              <a:rPr lang="es-ES" smtClean="0"/>
              <a:t>24/10/2026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B633C98-AC54-A430-1E97-38493AC1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C1E55F0B-4FA0-483F-6397-7AE3C77FA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EE5B8-1874-487D-A2B9-8A9C2E5A6EA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721289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0731AC-A577-DAA6-53A0-F4768B5401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76F0E3CD-1238-0A4F-EDCC-FC90701C6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B586-6495-459E-8EC3-A7D93EFDBCE1}" type="datetimeFigureOut">
              <a:rPr lang="es-ES" smtClean="0"/>
              <a:t>24/10/2026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BCD09D1-4497-3549-0603-D0712053B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8D547EE-19CD-2283-0268-661A95611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EE5B8-1874-487D-A2B9-8A9C2E5A6EA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345305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636447F8-4434-F092-A77A-D4E7D52C1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B586-6495-459E-8EC3-A7D93EFDBCE1}" type="datetimeFigureOut">
              <a:rPr lang="es-ES" smtClean="0"/>
              <a:t>24/10/2026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88202D8-EB9C-1B18-E6DE-ED116439B7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518699F-69BA-B89F-0C81-773910440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EE5B8-1874-487D-A2B9-8A9C2E5A6EA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37544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DBC85D-C80C-9B2D-4CF0-7631D2666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C074BE0-24E0-180C-7EA1-3BA68286F4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FC0439B-DCDB-66AD-6FF7-26F55A56FF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1E82FE6-8A43-515E-B7B3-B85F2D7D47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B586-6495-459E-8EC3-A7D93EFDBCE1}" type="datetimeFigureOut">
              <a:rPr lang="es-ES" smtClean="0"/>
              <a:t>24/10/2026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B6D2460-9038-0F21-838F-D75A1C90D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5F2D6DD-4F47-4718-1E45-4BF4F71DF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EE5B8-1874-487D-A2B9-8A9C2E5A6EA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494744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462EC1-B5D3-389F-B07A-95AE4A3D6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D1672199-4587-4DF3-4674-6AABAFABE3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31C16B5-0BD6-6251-A341-6E51DCF140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B5CAE22-85EB-4F5D-4F42-63EA12319F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B586-6495-459E-8EC3-A7D93EFDBCE1}" type="datetimeFigureOut">
              <a:rPr lang="es-ES" smtClean="0"/>
              <a:t>24/10/2026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C4A415D-8764-3264-3187-0CA2780B2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7D2FB7B-70F6-A0BF-21D3-DC554E5D0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EE5B8-1874-487D-A2B9-8A9C2E5A6EA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823468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B9282B-FB60-BFEF-046A-970227E82F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6189F92-762E-5776-08E2-D7E8201BD6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6572039-72F5-0C6C-832F-594C3D2E7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B586-6495-459E-8EC3-A7D93EFDBCE1}" type="datetimeFigureOut">
              <a:rPr lang="es-ES" smtClean="0"/>
              <a:t>24/10/2026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11B2FBF-F5E2-00C4-23C5-2E5E56F0E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2164F7B-E867-0AA0-C502-0D407B188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EE5B8-1874-487D-A2B9-8A9C2E5A6EA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035662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B24195F2-582D-552E-C3FB-C02CD8A009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EF2EC02-9FA7-719B-38FB-6FD7EC4D62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8D0EFC1-A9B0-5EC3-DD20-53C624892E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B586-6495-459E-8EC3-A7D93EFDBCE1}" type="datetimeFigureOut">
              <a:rPr lang="es-ES" smtClean="0"/>
              <a:t>24/10/2026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3A32C05-1CD7-701C-95F9-0734A0EC7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E49F615-29DE-CBCC-4FE5-6FF72A554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EE5B8-1874-487D-A2B9-8A9C2E5A6EA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84174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079506A-01E7-1828-9804-183D11485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723962F-5BE2-4E3C-8E90-17D64E54C7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4367EFA-F714-02A2-1570-275D9EED9A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8BB586-6495-459E-8EC3-A7D93EFDBCE1}" type="datetimeFigureOut">
              <a:rPr lang="es-ES" smtClean="0"/>
              <a:t>24/10/2026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85AAE1B-9DA8-542F-1C17-2059F74356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D3AAC63-5B54-6579-D4B6-A45ECE94AF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1EE5B8-1874-487D-A2B9-8A9C2E5A6EA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214800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microsoft.com/office/2007/relationships/media" Target="../media/media2.mp4"/><Relationship Id="rId7" Type="http://schemas.openxmlformats.org/officeDocument/2006/relationships/image" Target="../media/image15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6.png"/><Relationship Id="rId5" Type="http://schemas.openxmlformats.org/officeDocument/2006/relationships/slideLayout" Target="../slideLayouts/slideLayout2.xml"/><Relationship Id="rId4" Type="http://schemas.openxmlformats.org/officeDocument/2006/relationships/video" Target="../media/media2.mp4"/><Relationship Id="rId9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CBEAE7F-348E-F33B-D658-CA69CA842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04310" cy="68580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6DA6BE97-8B0F-8C41-CD4F-8C6CF63001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9719" y="2317591"/>
            <a:ext cx="5989942" cy="2042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4429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D06B70B-A2AE-660F-A591-4FD0D3B44E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2870" y="151425"/>
            <a:ext cx="3509258" cy="1148820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03146634-19AF-0ACD-7D72-5E383BDE3819}"/>
              </a:ext>
            </a:extLst>
          </p:cNvPr>
          <p:cNvSpPr txBox="1"/>
          <p:nvPr/>
        </p:nvSpPr>
        <p:spPr>
          <a:xfrm>
            <a:off x="644586" y="5294180"/>
            <a:ext cx="609467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dirty="0" err="1">
                <a:solidFill>
                  <a:srgbClr val="D51F3B"/>
                </a:solidFill>
              </a:rPr>
              <a:t>Assignment</a:t>
            </a:r>
            <a:r>
              <a:rPr lang="es-ES" sz="4000" dirty="0">
                <a:solidFill>
                  <a:srgbClr val="D51F3B"/>
                </a:solidFill>
              </a:rPr>
              <a:t> 2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3EEA5716-ED0B-D4CC-77D6-355418EE043A}"/>
              </a:ext>
            </a:extLst>
          </p:cNvPr>
          <p:cNvSpPr txBox="1"/>
          <p:nvPr/>
        </p:nvSpPr>
        <p:spPr>
          <a:xfrm>
            <a:off x="644586" y="6002066"/>
            <a:ext cx="75994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dirty="0"/>
              <a:t>Richard </a:t>
            </a:r>
            <a:r>
              <a:rPr lang="es-ES" sz="2000" dirty="0" err="1"/>
              <a:t>Rumpelt</a:t>
            </a:r>
            <a:r>
              <a:rPr lang="es-ES" sz="2000" dirty="0"/>
              <a:t> 		Javier Comes Tello 	  Tobias Brand </a:t>
            </a:r>
          </a:p>
        </p:txBody>
      </p:sp>
    </p:spTree>
    <p:extLst>
      <p:ext uri="{BB962C8B-B14F-4D97-AF65-F5344CB8AC3E}">
        <p14:creationId xmlns:p14="http://schemas.microsoft.com/office/powerpoint/2010/main" val="3521577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64AC3CA-A27B-12AE-58AE-6C8D5730DF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dirty="0"/>
              <a:t>Q1 </a:t>
            </a:r>
            <a:r>
              <a:rPr lang="en-US" dirty="0"/>
              <a:t>– </a:t>
            </a:r>
            <a:r>
              <a:rPr lang="es-ES" dirty="0"/>
              <a:t>Camera</a:t>
            </a:r>
          </a:p>
          <a:p>
            <a:pPr marL="0" indent="0">
              <a:buNone/>
            </a:pPr>
            <a:r>
              <a:rPr lang="es-ES" dirty="0"/>
              <a:t>Q2 </a:t>
            </a:r>
            <a:r>
              <a:rPr lang="en-US" dirty="0"/>
              <a:t>– </a:t>
            </a:r>
            <a:r>
              <a:rPr lang="es-ES" dirty="0" err="1"/>
              <a:t>Lidar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Q3 – </a:t>
            </a:r>
            <a:r>
              <a:rPr lang="es-ES" dirty="0"/>
              <a:t>Camera-</a:t>
            </a:r>
            <a:r>
              <a:rPr lang="es-ES" dirty="0" err="1"/>
              <a:t>Lidar</a:t>
            </a:r>
            <a:r>
              <a:rPr lang="es-ES" dirty="0"/>
              <a:t> </a:t>
            </a:r>
            <a:r>
              <a:rPr lang="es-ES" dirty="0" err="1"/>
              <a:t>Fusion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Q4 – </a:t>
            </a:r>
            <a:r>
              <a:rPr lang="es-ES" dirty="0" err="1"/>
              <a:t>Autonomous</a:t>
            </a:r>
            <a:r>
              <a:rPr lang="es-ES" dirty="0"/>
              <a:t> </a:t>
            </a:r>
            <a:r>
              <a:rPr lang="es-ES" dirty="0" err="1"/>
              <a:t>navigation</a:t>
            </a:r>
            <a:r>
              <a:rPr lang="es-ES" dirty="0"/>
              <a:t> and slip </a:t>
            </a:r>
            <a:r>
              <a:rPr lang="es-ES" dirty="0" err="1"/>
              <a:t>estimation</a:t>
            </a:r>
            <a:endParaRPr lang="es-ES" dirty="0"/>
          </a:p>
          <a:p>
            <a:endParaRPr lang="es-E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97F0DA0-D685-72C5-348A-D8217193D316}"/>
              </a:ext>
            </a:extLst>
          </p:cNvPr>
          <p:cNvSpPr txBox="1"/>
          <p:nvPr/>
        </p:nvSpPr>
        <p:spPr>
          <a:xfrm>
            <a:off x="838200" y="603308"/>
            <a:ext cx="609467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dirty="0" err="1">
                <a:solidFill>
                  <a:srgbClr val="D51F3B"/>
                </a:solidFill>
              </a:rPr>
              <a:t>Outline</a:t>
            </a:r>
            <a:endParaRPr lang="es-ES" sz="4000" dirty="0">
              <a:solidFill>
                <a:srgbClr val="D51F3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47112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0B1FE510-9DE5-F3C7-AA2E-B6146E2ECA78}"/>
              </a:ext>
            </a:extLst>
          </p:cNvPr>
          <p:cNvSpPr txBox="1"/>
          <p:nvPr/>
        </p:nvSpPr>
        <p:spPr>
          <a:xfrm>
            <a:off x="4508390" y="2876562"/>
            <a:ext cx="656671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b="1" dirty="0">
                <a:solidFill>
                  <a:srgbClr val="D51F3B"/>
                </a:solidFill>
              </a:rPr>
              <a:t>Q1 </a:t>
            </a:r>
            <a:r>
              <a:rPr lang="en-US" sz="4000" b="1" dirty="0">
                <a:solidFill>
                  <a:srgbClr val="D51F3B"/>
                </a:solidFill>
              </a:rPr>
              <a:t>– </a:t>
            </a:r>
            <a:r>
              <a:rPr lang="es-ES" sz="4000" b="1" dirty="0">
                <a:solidFill>
                  <a:srgbClr val="D51F3B"/>
                </a:solidFill>
              </a:rPr>
              <a:t>Camera</a:t>
            </a:r>
          </a:p>
          <a:p>
            <a:r>
              <a:rPr lang="es-ES" sz="4000" dirty="0">
                <a:solidFill>
                  <a:srgbClr val="D51F3B"/>
                </a:solidFill>
              </a:rPr>
              <a:t>  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FCE9FE2-21AD-3E26-F942-DACC7AF32C07}"/>
              </a:ext>
            </a:extLst>
          </p:cNvPr>
          <p:cNvSpPr txBox="1"/>
          <p:nvPr/>
        </p:nvSpPr>
        <p:spPr>
          <a:xfrm>
            <a:off x="5334464" y="3538281"/>
            <a:ext cx="130308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dirty="0"/>
              <a:t>25 </a:t>
            </a:r>
            <a:r>
              <a:rPr lang="es-ES" sz="2000" dirty="0" err="1"/>
              <a:t>points</a:t>
            </a:r>
            <a:endParaRPr lang="es-ES" sz="2000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F11D51B6-A442-E12D-908F-C667F8F0AE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026" y="6016752"/>
            <a:ext cx="1941870" cy="711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54048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FC43479C-4666-A57B-1678-4296CBFFE0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084" y="1339588"/>
            <a:ext cx="10014668" cy="5445571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0B6C4930-5F20-E4FD-6B03-B3F60A6A9829}"/>
              </a:ext>
            </a:extLst>
          </p:cNvPr>
          <p:cNvSpPr txBox="1"/>
          <p:nvPr/>
        </p:nvSpPr>
        <p:spPr>
          <a:xfrm>
            <a:off x="966084" y="446552"/>
            <a:ext cx="609467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dirty="0" err="1">
                <a:solidFill>
                  <a:srgbClr val="D51F3B"/>
                </a:solidFill>
              </a:rPr>
              <a:t>Assignment</a:t>
            </a:r>
            <a:r>
              <a:rPr lang="es-ES" sz="4000" dirty="0">
                <a:solidFill>
                  <a:srgbClr val="D51F3B"/>
                </a:solidFill>
              </a:rPr>
              <a:t> 1 – Q1 </a:t>
            </a:r>
            <a:r>
              <a:rPr lang="es-ES" sz="4000" dirty="0" err="1">
                <a:solidFill>
                  <a:srgbClr val="D51F3B"/>
                </a:solidFill>
              </a:rPr>
              <a:t>Result</a:t>
            </a:r>
            <a:endParaRPr lang="es-ES" sz="4000" dirty="0">
              <a:solidFill>
                <a:srgbClr val="D51F3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7120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0B3F2-E758-46C6-BE53-B168CFFBB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50DEB37-36C8-4928-4988-DD39ACAD58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" b="1" dirty="0" err="1"/>
              <a:t>Objective</a:t>
            </a:r>
            <a:r>
              <a:rPr lang="es-ES" b="1" dirty="0"/>
              <a:t>: </a:t>
            </a:r>
            <a:r>
              <a:rPr lang="en-US" dirty="0"/>
              <a:t>Calculate and visualize, in a three-dimensional space, the temporal trajectory of the center of the swinging load throughout all the frames of the training video.</a:t>
            </a:r>
            <a:endParaRPr lang="es-ES" dirty="0"/>
          </a:p>
          <a:p>
            <a:r>
              <a:rPr lang="es-ES" b="1" dirty="0"/>
              <a:t>Method:</a:t>
            </a:r>
          </a:p>
          <a:p>
            <a:pPr lvl="1"/>
            <a:r>
              <a:rPr lang="es-ES" dirty="0" err="1"/>
              <a:t>Object</a:t>
            </a:r>
            <a:r>
              <a:rPr lang="es-ES" dirty="0"/>
              <a:t> </a:t>
            </a:r>
            <a:r>
              <a:rPr lang="es-ES" dirty="0" err="1"/>
              <a:t>Detection</a:t>
            </a:r>
            <a:r>
              <a:rPr lang="es-ES" dirty="0"/>
              <a:t>: </a:t>
            </a:r>
            <a:r>
              <a:rPr lang="es-ES" dirty="0" err="1"/>
              <a:t>the</a:t>
            </a:r>
            <a:r>
              <a:rPr lang="es-ES" dirty="0"/>
              <a:t> YOLO </a:t>
            </a:r>
            <a:r>
              <a:rPr lang="es-ES" dirty="0" err="1"/>
              <a:t>model</a:t>
            </a:r>
            <a:r>
              <a:rPr lang="es-ES" dirty="0"/>
              <a:t> </a:t>
            </a:r>
            <a:r>
              <a:rPr lang="es-ES" dirty="0" err="1"/>
              <a:t>trained</a:t>
            </a:r>
            <a:r>
              <a:rPr lang="es-ES" dirty="0"/>
              <a:t> in </a:t>
            </a:r>
            <a:r>
              <a:rPr lang="es-ES" dirty="0" err="1"/>
              <a:t>Assignment</a:t>
            </a:r>
            <a:r>
              <a:rPr lang="es-ES" dirty="0"/>
              <a:t> 1 (best.pt)</a:t>
            </a:r>
          </a:p>
          <a:p>
            <a:pPr lvl="1"/>
            <a:r>
              <a:rPr lang="es-ES" dirty="0"/>
              <a:t>2D </a:t>
            </a:r>
            <a:r>
              <a:rPr lang="es-ES" dirty="0" err="1"/>
              <a:t>centroid</a:t>
            </a:r>
            <a:r>
              <a:rPr lang="es-ES" dirty="0"/>
              <a:t> </a:t>
            </a:r>
            <a:r>
              <a:rPr lang="es-ES" dirty="0" err="1"/>
              <a:t>calculation</a:t>
            </a:r>
            <a:r>
              <a:rPr lang="es-ES" dirty="0"/>
              <a:t>: (</a:t>
            </a:r>
            <a:r>
              <a:rPr lang="es-ES" dirty="0" err="1"/>
              <a:t>u,v</a:t>
            </a:r>
            <a:r>
              <a:rPr lang="es-ES" dirty="0"/>
              <a:t>)</a:t>
            </a:r>
          </a:p>
          <a:p>
            <a:pPr lvl="1"/>
            <a:r>
              <a:rPr lang="es-ES" dirty="0"/>
              <a:t>Depth </a:t>
            </a:r>
            <a:r>
              <a:rPr lang="es-ES" dirty="0" err="1"/>
              <a:t>extraction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filtering</a:t>
            </a:r>
            <a:r>
              <a:rPr lang="es-ES" dirty="0"/>
              <a:t> </a:t>
            </a:r>
          </a:p>
          <a:p>
            <a:pPr lvl="1"/>
            <a:r>
              <a:rPr lang="es-ES" dirty="0" err="1"/>
              <a:t>Deprojection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3D </a:t>
            </a:r>
            <a:r>
              <a:rPr lang="es-ES" dirty="0" err="1"/>
              <a:t>coordinates</a:t>
            </a:r>
            <a:r>
              <a:rPr lang="es-ES" dirty="0"/>
              <a:t>:</a:t>
            </a:r>
            <a:br>
              <a:rPr lang="es-ES" dirty="0"/>
            </a:br>
            <a:endParaRPr lang="es-ES" dirty="0"/>
          </a:p>
          <a:p>
            <a:endParaRPr lang="es-E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9485927-4709-5148-3F9D-9E44FBC52742}"/>
              </a:ext>
            </a:extLst>
          </p:cNvPr>
          <p:cNvSpPr txBox="1"/>
          <p:nvPr/>
        </p:nvSpPr>
        <p:spPr>
          <a:xfrm>
            <a:off x="838200" y="603308"/>
            <a:ext cx="609467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dirty="0" err="1">
                <a:solidFill>
                  <a:srgbClr val="D51F3B"/>
                </a:solidFill>
              </a:rPr>
              <a:t>Objective</a:t>
            </a:r>
            <a:r>
              <a:rPr lang="es-ES" sz="4000" dirty="0">
                <a:solidFill>
                  <a:srgbClr val="D51F3B"/>
                </a:solidFill>
              </a:rPr>
              <a:t> &amp; Method (</a:t>
            </a:r>
            <a:r>
              <a:rPr lang="es-ES" sz="4000" dirty="0" err="1">
                <a:solidFill>
                  <a:srgbClr val="D51F3B"/>
                </a:solidFill>
              </a:rPr>
              <a:t>a,b,c</a:t>
            </a:r>
            <a:r>
              <a:rPr lang="es-ES" sz="4000" dirty="0">
                <a:solidFill>
                  <a:srgbClr val="D51F3B"/>
                </a:solidFill>
              </a:rPr>
              <a:t>)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0DB2687-A27C-F3D5-1AEF-17FD34F260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523"/>
          <a:stretch>
            <a:fillRect/>
          </a:stretch>
        </p:blipFill>
        <p:spPr>
          <a:xfrm>
            <a:off x="713232" y="5919417"/>
            <a:ext cx="9525000" cy="847144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39173321-15C2-B685-9888-47C2576C93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8477" b="38858"/>
          <a:stretch>
            <a:fillRect/>
          </a:stretch>
        </p:blipFill>
        <p:spPr>
          <a:xfrm>
            <a:off x="10238232" y="5917983"/>
            <a:ext cx="1240536" cy="517959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F8C99978-8003-EF5A-ECAD-C76C71627C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3944"/>
          <a:stretch>
            <a:fillRect/>
          </a:stretch>
        </p:blipFill>
        <p:spPr>
          <a:xfrm>
            <a:off x="5703403" y="4645631"/>
            <a:ext cx="2458942" cy="586327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AE45BE2-704A-B65D-2E34-AB152F89148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5064"/>
          <a:stretch>
            <a:fillRect/>
          </a:stretch>
        </p:blipFill>
        <p:spPr>
          <a:xfrm>
            <a:off x="9131742" y="4370267"/>
            <a:ext cx="2458942" cy="1241985"/>
          </a:xfrm>
          <a:prstGeom prst="rect">
            <a:avLst/>
          </a:prstGeom>
        </p:spPr>
      </p:pic>
      <p:sp>
        <p:nvSpPr>
          <p:cNvPr id="12" name="Flecha: a la derecha 11">
            <a:extLst>
              <a:ext uri="{FF2B5EF4-FFF2-40B4-BE49-F238E27FC236}">
                <a16:creationId xmlns:a16="http://schemas.microsoft.com/office/drawing/2014/main" id="{DC5D631E-C071-FECF-9E3C-259086A0A1B2}"/>
              </a:ext>
            </a:extLst>
          </p:cNvPr>
          <p:cNvSpPr/>
          <p:nvPr/>
        </p:nvSpPr>
        <p:spPr>
          <a:xfrm>
            <a:off x="8317064" y="4819789"/>
            <a:ext cx="659959" cy="293164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47501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A8F14-1523-B4AD-B305-0B02A8FED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C28342D8-C9A6-7B23-7963-0E454726BBEA}"/>
              </a:ext>
            </a:extLst>
          </p:cNvPr>
          <p:cNvSpPr txBox="1"/>
          <p:nvPr/>
        </p:nvSpPr>
        <p:spPr>
          <a:xfrm>
            <a:off x="838200" y="603308"/>
            <a:ext cx="609467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dirty="0" err="1">
                <a:solidFill>
                  <a:srgbClr val="D51F3B"/>
                </a:solidFill>
              </a:rPr>
              <a:t>Results</a:t>
            </a:r>
            <a:endParaRPr lang="es-ES" sz="4000" dirty="0">
              <a:solidFill>
                <a:srgbClr val="D51F3B"/>
              </a:solidFill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FD38F54-752C-4710-76C1-1626783C19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523"/>
          <a:stretch>
            <a:fillRect/>
          </a:stretch>
        </p:blipFill>
        <p:spPr>
          <a:xfrm>
            <a:off x="713232" y="5919417"/>
            <a:ext cx="9525000" cy="847144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1E91A3B2-A1D8-9380-8F07-922D547985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8477" b="38858"/>
          <a:stretch>
            <a:fillRect/>
          </a:stretch>
        </p:blipFill>
        <p:spPr>
          <a:xfrm>
            <a:off x="10238232" y="5917983"/>
            <a:ext cx="1240536" cy="517959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1E2D24EC-4611-BCA9-13A2-88D8C2698C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232" y="1523426"/>
            <a:ext cx="5331714" cy="4265371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D0936708-B58B-AD40-D61E-6CA95F37A6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7198" y="1653329"/>
            <a:ext cx="5331713" cy="4265371"/>
          </a:xfrm>
          <a:prstGeom prst="rect">
            <a:avLst/>
          </a:prstGeom>
        </p:spPr>
      </p:pic>
      <p:sp>
        <p:nvSpPr>
          <p:cNvPr id="12" name="Rectángulo 11">
            <a:extLst>
              <a:ext uri="{FF2B5EF4-FFF2-40B4-BE49-F238E27FC236}">
                <a16:creationId xmlns:a16="http://schemas.microsoft.com/office/drawing/2014/main" id="{4414D7BE-1DA7-4505-31CC-65413C42C003}"/>
              </a:ext>
            </a:extLst>
          </p:cNvPr>
          <p:cNvSpPr/>
          <p:nvPr/>
        </p:nvSpPr>
        <p:spPr>
          <a:xfrm>
            <a:off x="1682388" y="1388270"/>
            <a:ext cx="2529657" cy="41613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D01F434C-017B-4171-D1CD-D2A14A1484C2}"/>
              </a:ext>
            </a:extLst>
          </p:cNvPr>
          <p:cNvSpPr/>
          <p:nvPr/>
        </p:nvSpPr>
        <p:spPr>
          <a:xfrm>
            <a:off x="7708575" y="1596337"/>
            <a:ext cx="2529657" cy="41613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CBEF58AA-93C2-9508-7F48-614CA672BF69}"/>
              </a:ext>
            </a:extLst>
          </p:cNvPr>
          <p:cNvSpPr txBox="1"/>
          <p:nvPr/>
        </p:nvSpPr>
        <p:spPr>
          <a:xfrm>
            <a:off x="587334" y="1411671"/>
            <a:ext cx="47197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3D </a:t>
            </a:r>
            <a:r>
              <a:rPr lang="es-ES" dirty="0" err="1"/>
              <a:t>Trajectory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Swinging</a:t>
            </a:r>
            <a:r>
              <a:rPr lang="es-ES" dirty="0"/>
              <a:t> Load </a:t>
            </a:r>
            <a:r>
              <a:rPr lang="es-ES" dirty="0" err="1"/>
              <a:t>with</a:t>
            </a:r>
            <a:r>
              <a:rPr lang="es-ES" dirty="0"/>
              <a:t> 𝑀𝑖𝑛𝑡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CBA71C72-083B-3803-86FA-99370520CD14}"/>
              </a:ext>
            </a:extLst>
          </p:cNvPr>
          <p:cNvSpPr txBox="1"/>
          <p:nvPr/>
        </p:nvSpPr>
        <p:spPr>
          <a:xfrm>
            <a:off x="6613521" y="1368186"/>
            <a:ext cx="47197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3D </a:t>
            </a:r>
            <a:r>
              <a:rPr lang="es-ES" dirty="0" err="1"/>
              <a:t>Trajectory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Swinging</a:t>
            </a:r>
            <a:r>
              <a:rPr lang="es-ES" dirty="0"/>
              <a:t> Load </a:t>
            </a:r>
            <a:r>
              <a:rPr lang="es-ES" dirty="0" err="1"/>
              <a:t>with</a:t>
            </a:r>
            <a:r>
              <a:rPr lang="es-ES" dirty="0"/>
              <a:t> 𝑀𝑑 </a:t>
            </a:r>
            <a:endParaRPr lang="es-ES" i="1" dirty="0"/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0A352488-3550-CAFC-2974-B3B081C995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7419" y="4046992"/>
            <a:ext cx="3181492" cy="2230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7643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C68963-6AC0-200D-EA7A-AA36A4717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b="1" dirty="0">
                <a:solidFill>
                  <a:srgbClr val="FF0000"/>
                </a:solidFill>
              </a:rPr>
              <a:t>For d and 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552875E-DB53-C4CC-39F2-6A50CC5198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4768586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6872A-E7AE-0831-DD69-3A3A92633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3F3B927-C459-C6C8-AA0C-C8D3BB1A4F7C}"/>
              </a:ext>
            </a:extLst>
          </p:cNvPr>
          <p:cNvSpPr txBox="1"/>
          <p:nvPr/>
        </p:nvSpPr>
        <p:spPr>
          <a:xfrm>
            <a:off x="1389888" y="2876562"/>
            <a:ext cx="968521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4000" b="1" dirty="0">
                <a:solidFill>
                  <a:srgbClr val="D51F3B"/>
                </a:solidFill>
              </a:rPr>
              <a:t>Q2 </a:t>
            </a:r>
            <a:r>
              <a:rPr lang="en-US" sz="4000" b="1" dirty="0">
                <a:solidFill>
                  <a:srgbClr val="D51F3B"/>
                </a:solidFill>
              </a:rPr>
              <a:t>– </a:t>
            </a:r>
            <a:r>
              <a:rPr lang="es-ES" sz="4000" b="1" dirty="0" err="1">
                <a:solidFill>
                  <a:srgbClr val="D51F3B"/>
                </a:solidFill>
              </a:rPr>
              <a:t>Lidar</a:t>
            </a:r>
            <a:endParaRPr lang="es-ES" sz="4000" b="1" dirty="0">
              <a:solidFill>
                <a:srgbClr val="D51F3B"/>
              </a:solidFill>
            </a:endParaRPr>
          </a:p>
          <a:p>
            <a:r>
              <a:rPr lang="es-ES" sz="4000" dirty="0">
                <a:solidFill>
                  <a:srgbClr val="D51F3B"/>
                </a:solidFill>
              </a:rPr>
              <a:t>  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12340E2-BEB9-5E83-B587-9214D8FBC101}"/>
              </a:ext>
            </a:extLst>
          </p:cNvPr>
          <p:cNvSpPr txBox="1"/>
          <p:nvPr/>
        </p:nvSpPr>
        <p:spPr>
          <a:xfrm>
            <a:off x="5580954" y="3538281"/>
            <a:ext cx="130308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2000" dirty="0"/>
              <a:t>25 </a:t>
            </a:r>
            <a:r>
              <a:rPr lang="es-ES" sz="2000" dirty="0" err="1"/>
              <a:t>points</a:t>
            </a:r>
            <a:endParaRPr lang="es-ES" sz="2000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2A81EDDB-A099-2783-BDD6-197093BD7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026" y="6016752"/>
            <a:ext cx="1941870" cy="711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59301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82DF4-E93B-D7F4-3551-CAFE826A0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6417F335-D505-9ADA-E44F-5A255887F328}"/>
              </a:ext>
            </a:extLst>
          </p:cNvPr>
          <p:cNvSpPr txBox="1"/>
          <p:nvPr/>
        </p:nvSpPr>
        <p:spPr>
          <a:xfrm>
            <a:off x="1389888" y="2876562"/>
            <a:ext cx="968521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4000" b="1" dirty="0">
                <a:solidFill>
                  <a:srgbClr val="D51F3B"/>
                </a:solidFill>
              </a:rPr>
              <a:t>Q3 </a:t>
            </a:r>
            <a:r>
              <a:rPr lang="en-US" sz="4000" b="1" dirty="0">
                <a:solidFill>
                  <a:srgbClr val="D51F3B"/>
                </a:solidFill>
              </a:rPr>
              <a:t>– Camera-</a:t>
            </a:r>
            <a:r>
              <a:rPr lang="es-ES" sz="4000" b="1" dirty="0" err="1">
                <a:solidFill>
                  <a:srgbClr val="D51F3B"/>
                </a:solidFill>
              </a:rPr>
              <a:t>Lidar</a:t>
            </a:r>
            <a:r>
              <a:rPr lang="es-ES" sz="4000" b="1" dirty="0">
                <a:solidFill>
                  <a:srgbClr val="D51F3B"/>
                </a:solidFill>
              </a:rPr>
              <a:t> </a:t>
            </a:r>
            <a:r>
              <a:rPr lang="es-ES" sz="4000" b="1" dirty="0" err="1">
                <a:solidFill>
                  <a:srgbClr val="D51F3B"/>
                </a:solidFill>
              </a:rPr>
              <a:t>Fusion</a:t>
            </a:r>
            <a:endParaRPr lang="es-ES" sz="4000" b="1" dirty="0">
              <a:solidFill>
                <a:srgbClr val="D51F3B"/>
              </a:solidFill>
            </a:endParaRPr>
          </a:p>
          <a:p>
            <a:r>
              <a:rPr lang="es-ES" sz="4000" dirty="0">
                <a:solidFill>
                  <a:srgbClr val="D51F3B"/>
                </a:solidFill>
              </a:rPr>
              <a:t>  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DE5C1620-ABEA-3155-3564-9F889BCD5DF8}"/>
              </a:ext>
            </a:extLst>
          </p:cNvPr>
          <p:cNvSpPr txBox="1"/>
          <p:nvPr/>
        </p:nvSpPr>
        <p:spPr>
          <a:xfrm>
            <a:off x="5580954" y="3538281"/>
            <a:ext cx="130308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2000" dirty="0"/>
              <a:t>25 </a:t>
            </a:r>
            <a:r>
              <a:rPr lang="es-ES" sz="2000" dirty="0" err="1"/>
              <a:t>points</a:t>
            </a:r>
            <a:endParaRPr lang="es-ES" sz="2000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208907D6-5B2D-75A0-F09B-B5229AE87C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026" y="6016752"/>
            <a:ext cx="1941870" cy="711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2384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C882F-5B05-8513-80AD-BE975B7F3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203C585-982E-95DD-213B-5071351A122A}"/>
              </a:ext>
            </a:extLst>
          </p:cNvPr>
          <p:cNvSpPr txBox="1"/>
          <p:nvPr/>
        </p:nvSpPr>
        <p:spPr>
          <a:xfrm>
            <a:off x="1389888" y="2876562"/>
            <a:ext cx="968521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4000" b="1" dirty="0">
                <a:solidFill>
                  <a:srgbClr val="D51F3B"/>
                </a:solidFill>
              </a:rPr>
              <a:t>Q4 </a:t>
            </a:r>
            <a:r>
              <a:rPr lang="en-US" sz="4000" b="1" dirty="0">
                <a:solidFill>
                  <a:srgbClr val="D51F3B"/>
                </a:solidFill>
              </a:rPr>
              <a:t>– </a:t>
            </a:r>
            <a:r>
              <a:rPr lang="es-ES" sz="4000" b="1" dirty="0" err="1">
                <a:solidFill>
                  <a:srgbClr val="D51F3B"/>
                </a:solidFill>
              </a:rPr>
              <a:t>Autonomous</a:t>
            </a:r>
            <a:r>
              <a:rPr lang="es-ES" sz="4000" b="1" dirty="0">
                <a:solidFill>
                  <a:srgbClr val="D51F3B"/>
                </a:solidFill>
              </a:rPr>
              <a:t> </a:t>
            </a:r>
            <a:r>
              <a:rPr lang="es-ES" sz="4000" b="1" dirty="0" err="1">
                <a:solidFill>
                  <a:srgbClr val="D51F3B"/>
                </a:solidFill>
              </a:rPr>
              <a:t>navigation</a:t>
            </a:r>
            <a:r>
              <a:rPr lang="es-ES" sz="4000" b="1" dirty="0">
                <a:solidFill>
                  <a:srgbClr val="D51F3B"/>
                </a:solidFill>
              </a:rPr>
              <a:t> and slip </a:t>
            </a:r>
            <a:r>
              <a:rPr lang="es-ES" sz="4000" b="1" dirty="0" err="1">
                <a:solidFill>
                  <a:srgbClr val="D51F3B"/>
                </a:solidFill>
              </a:rPr>
              <a:t>estimation</a:t>
            </a:r>
            <a:endParaRPr lang="es-ES" sz="4000" b="1" dirty="0">
              <a:solidFill>
                <a:srgbClr val="D51F3B"/>
              </a:solidFill>
            </a:endParaRPr>
          </a:p>
          <a:p>
            <a:r>
              <a:rPr lang="es-ES" sz="4000" dirty="0">
                <a:solidFill>
                  <a:srgbClr val="D51F3B"/>
                </a:solidFill>
              </a:rPr>
              <a:t>  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0F5D220-D1AC-C49E-5853-128DC1C2A2CC}"/>
              </a:ext>
            </a:extLst>
          </p:cNvPr>
          <p:cNvSpPr txBox="1"/>
          <p:nvPr/>
        </p:nvSpPr>
        <p:spPr>
          <a:xfrm>
            <a:off x="5580954" y="4142580"/>
            <a:ext cx="130308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2000" dirty="0"/>
              <a:t>25 </a:t>
            </a:r>
            <a:r>
              <a:rPr lang="es-ES" sz="2000" dirty="0" err="1"/>
              <a:t>points</a:t>
            </a:r>
            <a:endParaRPr lang="es-ES" sz="2000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194D4C37-B5FC-5C9F-E8C2-CF86F46DA0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026" y="6016752"/>
            <a:ext cx="1941870" cy="711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22917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3A43E7-818F-BA49-90B6-EF1D0699A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FBE552C-8387-4AE0-65F6-70151CB128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" b="1" dirty="0" err="1"/>
              <a:t>Objective</a:t>
            </a:r>
            <a:r>
              <a:rPr lang="es-ES" b="1" dirty="0"/>
              <a:t>: </a:t>
            </a:r>
            <a:r>
              <a:rPr lang="en-US" dirty="0"/>
              <a:t>Simulate the autonomous navigation of a robot in </a:t>
            </a:r>
            <a:r>
              <a:rPr lang="en-US" dirty="0" err="1"/>
              <a:t>Webots</a:t>
            </a:r>
            <a:r>
              <a:rPr lang="en-US" dirty="0"/>
              <a:t> toward a predefined target, implementing obstacle avoidance.</a:t>
            </a:r>
            <a:endParaRPr lang="es-ES" dirty="0"/>
          </a:p>
          <a:p>
            <a:r>
              <a:rPr lang="es-ES" b="1" dirty="0"/>
              <a:t>Method:</a:t>
            </a:r>
          </a:p>
          <a:p>
            <a:pPr lvl="1"/>
            <a:r>
              <a:rPr lang="en-US" dirty="0"/>
              <a:t>Navigation and Collision Avoidance</a:t>
            </a:r>
          </a:p>
          <a:p>
            <a:pPr lvl="1"/>
            <a:r>
              <a:rPr lang="en-US" dirty="0"/>
              <a:t>Speed ​​Calculation: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Slip Estimation:</a:t>
            </a:r>
            <a:br>
              <a:rPr lang="es-ES" dirty="0"/>
            </a:br>
            <a:endParaRPr lang="es-ES" dirty="0"/>
          </a:p>
          <a:p>
            <a:endParaRPr lang="es-E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05E49C5-BABC-A57F-F7F8-B3D5B4AC99DB}"/>
              </a:ext>
            </a:extLst>
          </p:cNvPr>
          <p:cNvSpPr txBox="1"/>
          <p:nvPr/>
        </p:nvSpPr>
        <p:spPr>
          <a:xfrm>
            <a:off x="838200" y="603308"/>
            <a:ext cx="609467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dirty="0" err="1">
                <a:solidFill>
                  <a:srgbClr val="D51F3B"/>
                </a:solidFill>
              </a:rPr>
              <a:t>Objective</a:t>
            </a:r>
            <a:r>
              <a:rPr lang="es-ES" sz="4000" dirty="0">
                <a:solidFill>
                  <a:srgbClr val="D51F3B"/>
                </a:solidFill>
              </a:rPr>
              <a:t> &amp; Method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CA2E4ED-16F0-5DA4-93BF-6318650AB4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523"/>
          <a:stretch>
            <a:fillRect/>
          </a:stretch>
        </p:blipFill>
        <p:spPr>
          <a:xfrm>
            <a:off x="713232" y="5919417"/>
            <a:ext cx="9525000" cy="847144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96A92C91-9B62-AB6F-D80D-1BF6DB58ADF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8477" b="38858"/>
          <a:stretch>
            <a:fillRect/>
          </a:stretch>
        </p:blipFill>
        <p:spPr>
          <a:xfrm>
            <a:off x="10238232" y="5917983"/>
            <a:ext cx="1240536" cy="517959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C0BA6542-49D0-7549-F6C7-81C5529A83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2934" y="3619659"/>
            <a:ext cx="1565372" cy="372875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A7CED767-2696-EA16-3AE1-8784BF5DCC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5310" y="4329864"/>
            <a:ext cx="2102996" cy="651490"/>
          </a:xfrm>
          <a:prstGeom prst="rect">
            <a:avLst/>
          </a:prstGeom>
        </p:spPr>
      </p:pic>
      <p:pic>
        <p:nvPicPr>
          <p:cNvPr id="14" name="Imagen 13" descr="GitHub - cyberbotics/webots: Webots Robot Simulator · GitHub">
            <a:extLst>
              <a:ext uri="{FF2B5EF4-FFF2-40B4-BE49-F238E27FC236}">
                <a16:creationId xmlns:a16="http://schemas.microsoft.com/office/drawing/2014/main" id="{14BDC4DE-B143-3D83-6FBF-33BB272E57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9820" y="2800829"/>
            <a:ext cx="3045515" cy="3045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68512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84F21-23AF-19B8-FCFF-C57A73FB2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3E0B43C5-3F33-A7AF-0E19-C70FEBC99E24}"/>
              </a:ext>
            </a:extLst>
          </p:cNvPr>
          <p:cNvSpPr txBox="1"/>
          <p:nvPr/>
        </p:nvSpPr>
        <p:spPr>
          <a:xfrm>
            <a:off x="838200" y="603308"/>
            <a:ext cx="609467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dirty="0" err="1">
                <a:solidFill>
                  <a:srgbClr val="D51F3B"/>
                </a:solidFill>
              </a:rPr>
              <a:t>Results</a:t>
            </a:r>
            <a:endParaRPr lang="es-ES" sz="4000" dirty="0">
              <a:solidFill>
                <a:srgbClr val="D51F3B"/>
              </a:solidFill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27CCDFA-00A1-C2CF-2131-D200199E8C1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11523"/>
          <a:stretch>
            <a:fillRect/>
          </a:stretch>
        </p:blipFill>
        <p:spPr>
          <a:xfrm>
            <a:off x="713232" y="5919417"/>
            <a:ext cx="9525000" cy="847144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80D0F710-85C5-6811-2D43-B94B69CB97B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88477" b="38858"/>
          <a:stretch>
            <a:fillRect/>
          </a:stretch>
        </p:blipFill>
        <p:spPr>
          <a:xfrm>
            <a:off x="10238232" y="5917983"/>
            <a:ext cx="1240536" cy="517959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27CEB8D7-472C-491C-42BD-18925F8ED04E}"/>
              </a:ext>
            </a:extLst>
          </p:cNvPr>
          <p:cNvSpPr txBox="1"/>
          <p:nvPr/>
        </p:nvSpPr>
        <p:spPr>
          <a:xfrm>
            <a:off x="2213111" y="1936077"/>
            <a:ext cx="17386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Low </a:t>
            </a:r>
            <a:r>
              <a:rPr lang="es-ES" dirty="0" err="1"/>
              <a:t>Friction</a:t>
            </a:r>
            <a:endParaRPr lang="es-ES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89AC382-BE73-356B-1EC8-B48198EB1924}"/>
              </a:ext>
            </a:extLst>
          </p:cNvPr>
          <p:cNvSpPr txBox="1"/>
          <p:nvPr/>
        </p:nvSpPr>
        <p:spPr>
          <a:xfrm>
            <a:off x="8499545" y="1942453"/>
            <a:ext cx="17386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High </a:t>
            </a:r>
            <a:r>
              <a:rPr lang="es-ES" dirty="0" err="1"/>
              <a:t>Friction</a:t>
            </a:r>
            <a:endParaRPr lang="es-ES" dirty="0"/>
          </a:p>
        </p:txBody>
      </p:sp>
      <p:pic>
        <p:nvPicPr>
          <p:cNvPr id="6" name="LowFriction">
            <a:hlinkClick r:id="" action="ppaction://media"/>
            <a:extLst>
              <a:ext uri="{FF2B5EF4-FFF2-40B4-BE49-F238E27FC236}">
                <a16:creationId xmlns:a16="http://schemas.microsoft.com/office/drawing/2014/main" id="{4912797D-DB4A-E241-AB14-A15E982079A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13232" y="2327529"/>
            <a:ext cx="4257675" cy="3275013"/>
          </a:xfrm>
          <a:prstGeom prst="rect">
            <a:avLst/>
          </a:prstGeom>
        </p:spPr>
      </p:pic>
      <p:pic>
        <p:nvPicPr>
          <p:cNvPr id="9" name="Untitled2">
            <a:hlinkClick r:id="" action="ppaction://media"/>
            <a:extLst>
              <a:ext uri="{FF2B5EF4-FFF2-40B4-BE49-F238E27FC236}">
                <a16:creationId xmlns:a16="http://schemas.microsoft.com/office/drawing/2014/main" id="{D4112B97-327E-CCD1-1FE6-6019FD4E477D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999666" y="2327530"/>
            <a:ext cx="4257675" cy="3275012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AA221799-0FCF-A880-823D-207A3A053DA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1807" y="1489001"/>
            <a:ext cx="8227082" cy="4113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9137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cmd type="call" cmd="stop">
                                      <p:cBhvr>
                                        <p:cTn id="11" dur="1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cmd type="call" cmd="stop">
                                      <p:cBhvr>
                                        <p:cTn id="15" dur="1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6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1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video>
              <p:cMediaNode vol="80000">
                <p:cTn id="2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0B3F2-E758-46C6-BE53-B168CFFBB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50DEB37-36C8-4928-4988-DD39ACAD58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" b="1" dirty="0" err="1"/>
              <a:t>Objective</a:t>
            </a:r>
            <a:r>
              <a:rPr lang="es-ES" b="1" dirty="0"/>
              <a:t>: </a:t>
            </a:r>
            <a:r>
              <a:rPr lang="es-ES" dirty="0" err="1"/>
              <a:t>track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swinging</a:t>
            </a:r>
            <a:r>
              <a:rPr lang="es-ES" dirty="0"/>
              <a:t> load in test_swingingload.avi</a:t>
            </a:r>
            <a:br>
              <a:rPr lang="es-ES" dirty="0"/>
            </a:br>
            <a:r>
              <a:rPr lang="es-ES" dirty="0"/>
              <a:t>and show </a:t>
            </a:r>
            <a:r>
              <a:rPr lang="es-ES" dirty="0" err="1"/>
              <a:t>its</a:t>
            </a:r>
            <a:r>
              <a:rPr lang="es-ES" dirty="0"/>
              <a:t> </a:t>
            </a:r>
            <a:r>
              <a:rPr lang="es-ES" dirty="0" err="1"/>
              <a:t>trajectory</a:t>
            </a:r>
            <a:r>
              <a:rPr lang="es-ES" dirty="0"/>
              <a:t> as </a:t>
            </a:r>
            <a:r>
              <a:rPr lang="es-ES" dirty="0" err="1"/>
              <a:t>it</a:t>
            </a:r>
            <a:r>
              <a:rPr lang="es-ES" dirty="0"/>
              <a:t> swings</a:t>
            </a:r>
          </a:p>
          <a:p>
            <a:r>
              <a:rPr lang="es-ES" b="1" dirty="0"/>
              <a:t>Method:</a:t>
            </a:r>
          </a:p>
          <a:p>
            <a:pPr lvl="1"/>
            <a:r>
              <a:rPr lang="es-ES" dirty="0"/>
              <a:t>Detector: </a:t>
            </a:r>
            <a:r>
              <a:rPr lang="es-ES" dirty="0" err="1"/>
              <a:t>the</a:t>
            </a:r>
            <a:r>
              <a:rPr lang="es-ES" dirty="0"/>
              <a:t> YOLO </a:t>
            </a:r>
            <a:r>
              <a:rPr lang="es-ES" dirty="0" err="1"/>
              <a:t>model</a:t>
            </a:r>
            <a:r>
              <a:rPr lang="es-ES" dirty="0"/>
              <a:t> </a:t>
            </a:r>
            <a:r>
              <a:rPr lang="es-ES" dirty="0" err="1"/>
              <a:t>trained</a:t>
            </a:r>
            <a:r>
              <a:rPr lang="es-ES" dirty="0"/>
              <a:t> in Q1 (best.pt)</a:t>
            </a:r>
          </a:p>
          <a:p>
            <a:pPr lvl="1"/>
            <a:r>
              <a:rPr lang="es-ES" dirty="0" err="1"/>
              <a:t>model.track</a:t>
            </a:r>
            <a:r>
              <a:rPr lang="es-ES" dirty="0"/>
              <a:t>(</a:t>
            </a:r>
            <a:r>
              <a:rPr lang="es-ES" dirty="0" err="1"/>
              <a:t>frame</a:t>
            </a:r>
            <a:r>
              <a:rPr lang="es-ES" dirty="0"/>
              <a:t>, </a:t>
            </a:r>
            <a:r>
              <a:rPr lang="es-ES" dirty="0" err="1"/>
              <a:t>persist</a:t>
            </a:r>
            <a:r>
              <a:rPr lang="es-ES" dirty="0"/>
              <a:t>=True) </a:t>
            </a:r>
            <a:r>
              <a:rPr lang="es-ES" dirty="0" err="1"/>
              <a:t>on</a:t>
            </a:r>
            <a:r>
              <a:rPr lang="es-ES" dirty="0"/>
              <a:t> </a:t>
            </a:r>
            <a:r>
              <a:rPr lang="es-ES" dirty="0" err="1"/>
              <a:t>every</a:t>
            </a:r>
            <a:r>
              <a:rPr lang="es-ES" dirty="0"/>
              <a:t> </a:t>
            </a:r>
            <a:r>
              <a:rPr lang="es-ES" dirty="0" err="1"/>
              <a:t>frame</a:t>
            </a:r>
            <a:r>
              <a:rPr lang="es-ES" dirty="0"/>
              <a:t> – </a:t>
            </a:r>
            <a:r>
              <a:rPr lang="es-ES" dirty="0" err="1"/>
              <a:t>keeps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same</a:t>
            </a:r>
            <a:br>
              <a:rPr lang="es-ES" dirty="0"/>
            </a:br>
            <a:r>
              <a:rPr lang="es-ES" dirty="0" err="1"/>
              <a:t>object</a:t>
            </a:r>
            <a:r>
              <a:rPr lang="es-ES" dirty="0"/>
              <a:t> </a:t>
            </a:r>
            <a:r>
              <a:rPr lang="es-ES" dirty="0" err="1"/>
              <a:t>identity</a:t>
            </a:r>
            <a:r>
              <a:rPr lang="es-ES" dirty="0"/>
              <a:t> </a:t>
            </a:r>
            <a:r>
              <a:rPr lang="es-ES" dirty="0" err="1"/>
              <a:t>across</a:t>
            </a:r>
            <a:r>
              <a:rPr lang="es-ES" dirty="0"/>
              <a:t> </a:t>
            </a:r>
            <a:r>
              <a:rPr lang="es-ES" dirty="0" err="1"/>
              <a:t>frames</a:t>
            </a:r>
            <a:endParaRPr lang="es-ES" dirty="0"/>
          </a:p>
          <a:p>
            <a:pPr lvl="1"/>
            <a:r>
              <a:rPr lang="es-ES" dirty="0" err="1"/>
              <a:t>Bounding</a:t>
            </a:r>
            <a:r>
              <a:rPr lang="es-ES" dirty="0"/>
              <a:t>-box center (</a:t>
            </a:r>
            <a:r>
              <a:rPr lang="es-ES" i="1" dirty="0" err="1"/>
              <a:t>cx</a:t>
            </a:r>
            <a:r>
              <a:rPr lang="es-ES" i="1" dirty="0"/>
              <a:t>, </a:t>
            </a:r>
            <a:r>
              <a:rPr lang="es-ES" i="1" dirty="0" err="1"/>
              <a:t>cy</a:t>
            </a:r>
            <a:r>
              <a:rPr lang="es-ES" dirty="0"/>
              <a:t>) </a:t>
            </a:r>
            <a:r>
              <a:rPr lang="es-ES" dirty="0" err="1"/>
              <a:t>extracted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</a:t>
            </a:r>
            <a:r>
              <a:rPr lang="es-ES" dirty="0" err="1"/>
              <a:t>every</a:t>
            </a:r>
            <a:r>
              <a:rPr lang="es-ES" dirty="0"/>
              <a:t> </a:t>
            </a:r>
            <a:r>
              <a:rPr lang="es-ES" dirty="0" err="1"/>
              <a:t>frame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load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detected</a:t>
            </a:r>
            <a:br>
              <a:rPr lang="es-ES" dirty="0"/>
            </a:br>
            <a:r>
              <a:rPr lang="es-ES" dirty="0"/>
              <a:t>in</a:t>
            </a:r>
          </a:p>
          <a:p>
            <a:pPr lvl="1"/>
            <a:r>
              <a:rPr lang="es-ES" dirty="0" err="1"/>
              <a:t>Plot</a:t>
            </a:r>
            <a:r>
              <a:rPr lang="es-ES" dirty="0"/>
              <a:t> </a:t>
            </a:r>
            <a:r>
              <a:rPr lang="es-ES" dirty="0" err="1"/>
              <a:t>all</a:t>
            </a:r>
            <a:r>
              <a:rPr lang="es-ES" dirty="0"/>
              <a:t> centers as a </a:t>
            </a:r>
            <a:r>
              <a:rPr lang="es-ES" dirty="0" err="1"/>
              <a:t>scatter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pixel </a:t>
            </a:r>
            <a:r>
              <a:rPr lang="es-ES" dirty="0" err="1"/>
              <a:t>coordinates</a:t>
            </a:r>
            <a:r>
              <a:rPr lang="es-ES" dirty="0"/>
              <a:t> </a:t>
            </a:r>
            <a:r>
              <a:rPr lang="es-ES" i="1" dirty="0"/>
              <a:t>X </a:t>
            </a:r>
            <a:r>
              <a:rPr lang="es-ES" dirty="0"/>
              <a:t>vs. </a:t>
            </a:r>
            <a:r>
              <a:rPr lang="es-ES" i="1" dirty="0"/>
              <a:t>Y</a:t>
            </a:r>
            <a:r>
              <a:rPr lang="es-ES" dirty="0"/>
              <a:t> </a:t>
            </a:r>
            <a:br>
              <a:rPr lang="es-ES" dirty="0"/>
            </a:br>
            <a:endParaRPr lang="es-ES" dirty="0"/>
          </a:p>
          <a:p>
            <a:endParaRPr lang="es-E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9485927-4709-5148-3F9D-9E44FBC52742}"/>
              </a:ext>
            </a:extLst>
          </p:cNvPr>
          <p:cNvSpPr txBox="1"/>
          <p:nvPr/>
        </p:nvSpPr>
        <p:spPr>
          <a:xfrm>
            <a:off x="838200" y="603308"/>
            <a:ext cx="609467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dirty="0" err="1">
                <a:solidFill>
                  <a:srgbClr val="D51F3B"/>
                </a:solidFill>
              </a:rPr>
              <a:t>Objective</a:t>
            </a:r>
            <a:r>
              <a:rPr lang="es-ES" sz="4000" dirty="0">
                <a:solidFill>
                  <a:srgbClr val="D51F3B"/>
                </a:solidFill>
              </a:rPr>
              <a:t> &amp; Method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0DB2687-A27C-F3D5-1AEF-17FD34F260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523"/>
          <a:stretch>
            <a:fillRect/>
          </a:stretch>
        </p:blipFill>
        <p:spPr>
          <a:xfrm>
            <a:off x="713232" y="5919417"/>
            <a:ext cx="9525000" cy="847144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39173321-15C2-B685-9888-47C2576C93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8477" b="38858"/>
          <a:stretch>
            <a:fillRect/>
          </a:stretch>
        </p:blipFill>
        <p:spPr>
          <a:xfrm>
            <a:off x="10238232" y="5917983"/>
            <a:ext cx="1240536" cy="517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53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A7911B-3C6E-756A-1F08-48B49BDC8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6A395D9-A85B-E9D8-7BDC-8A76782E20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7337805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B951A-0C46-7B92-9DE2-2B6E77BAF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B21E7BD-2B2F-6B65-BCF9-A82448D5D41C}"/>
              </a:ext>
            </a:extLst>
          </p:cNvPr>
          <p:cNvSpPr txBox="1"/>
          <p:nvPr/>
        </p:nvSpPr>
        <p:spPr>
          <a:xfrm>
            <a:off x="838200" y="603308"/>
            <a:ext cx="609467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dirty="0" err="1">
                <a:solidFill>
                  <a:srgbClr val="D51F3B"/>
                </a:solidFill>
              </a:rPr>
              <a:t>Results</a:t>
            </a:r>
            <a:endParaRPr lang="es-ES" sz="4000" dirty="0">
              <a:solidFill>
                <a:srgbClr val="D51F3B"/>
              </a:solidFill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9CD3A1E-DA13-03FB-5C11-9E7A152129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523"/>
          <a:stretch>
            <a:fillRect/>
          </a:stretch>
        </p:blipFill>
        <p:spPr>
          <a:xfrm>
            <a:off x="713232" y="5919417"/>
            <a:ext cx="9525000" cy="847144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8E948066-863F-FD8D-3CFC-2683C0D276F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8477" b="38858"/>
          <a:stretch>
            <a:fillRect/>
          </a:stretch>
        </p:blipFill>
        <p:spPr>
          <a:xfrm>
            <a:off x="10238232" y="5917983"/>
            <a:ext cx="1240536" cy="517959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7C04C400-7BDB-AA46-72F4-94B01345FE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6550" y="1286670"/>
            <a:ext cx="6094673" cy="4778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256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48B31B-FDC3-22BB-431E-D5E137437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C190363-7697-8989-6DC0-779D866CE9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s-ES" b="1" dirty="0" err="1"/>
              <a:t>Objective</a:t>
            </a:r>
            <a:r>
              <a:rPr lang="es-ES" b="1" dirty="0"/>
              <a:t>: </a:t>
            </a:r>
            <a:r>
              <a:rPr lang="es-ES" dirty="0" err="1"/>
              <a:t>compress</a:t>
            </a:r>
            <a:r>
              <a:rPr lang="es-ES" dirty="0"/>
              <a:t> </a:t>
            </a:r>
            <a:r>
              <a:rPr lang="es-ES" dirty="0" err="1"/>
              <a:t>each</a:t>
            </a:r>
            <a:r>
              <a:rPr lang="es-ES" dirty="0"/>
              <a:t> </a:t>
            </a:r>
            <a:r>
              <a:rPr lang="es-ES" dirty="0" err="1"/>
              <a:t>scalogram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a </a:t>
            </a:r>
            <a:r>
              <a:rPr lang="es-ES" dirty="0" err="1"/>
              <a:t>latent</a:t>
            </a:r>
            <a:r>
              <a:rPr lang="es-ES" dirty="0"/>
              <a:t> vector and</a:t>
            </a:r>
            <a:br>
              <a:rPr lang="es-ES" dirty="0"/>
            </a:br>
            <a:r>
              <a:rPr lang="es-ES" dirty="0" err="1"/>
              <a:t>reconstruct</a:t>
            </a:r>
            <a:r>
              <a:rPr lang="es-ES" dirty="0"/>
              <a:t> </a:t>
            </a:r>
            <a:r>
              <a:rPr lang="es-ES" dirty="0" err="1"/>
              <a:t>it</a:t>
            </a:r>
            <a:r>
              <a:rPr lang="es-ES" dirty="0"/>
              <a:t>, </a:t>
            </a:r>
            <a:r>
              <a:rPr lang="es-ES" dirty="0" err="1"/>
              <a:t>for</a:t>
            </a:r>
            <a:r>
              <a:rPr lang="es-ES" dirty="0"/>
              <a:t> 10 </a:t>
            </a:r>
            <a:r>
              <a:rPr lang="es-ES" dirty="0" err="1"/>
              <a:t>random</a:t>
            </a:r>
            <a:r>
              <a:rPr lang="es-ES" dirty="0"/>
              <a:t> </a:t>
            </a:r>
            <a:r>
              <a:rPr lang="es-ES" dirty="0" err="1"/>
              <a:t>images</a:t>
            </a:r>
            <a:r>
              <a:rPr lang="es-ES" dirty="0"/>
              <a:t> per </a:t>
            </a:r>
            <a:r>
              <a:rPr lang="es-ES" dirty="0" err="1"/>
              <a:t>class</a:t>
            </a:r>
            <a:endParaRPr lang="es-ES" dirty="0"/>
          </a:p>
          <a:p>
            <a:r>
              <a:rPr lang="es-ES" b="1" dirty="0"/>
              <a:t>Method: </a:t>
            </a:r>
            <a:r>
              <a:rPr lang="es-ES" dirty="0"/>
              <a:t>dense </a:t>
            </a:r>
            <a:r>
              <a:rPr lang="es-ES" dirty="0" err="1"/>
              <a:t>autoencoder</a:t>
            </a:r>
            <a:r>
              <a:rPr lang="es-ES" dirty="0"/>
              <a:t> (</a:t>
            </a:r>
            <a:r>
              <a:rPr lang="es-ES" dirty="0" err="1"/>
              <a:t>matches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architecture</a:t>
            </a:r>
            <a:r>
              <a:rPr lang="es-ES" dirty="0"/>
              <a:t> </a:t>
            </a:r>
            <a:r>
              <a:rPr lang="es-ES" dirty="0" err="1"/>
              <a:t>shown</a:t>
            </a:r>
            <a:r>
              <a:rPr lang="es-ES" dirty="0"/>
              <a:t> in</a:t>
            </a:r>
            <a:br>
              <a:rPr lang="es-ES" dirty="0"/>
            </a:br>
            <a:r>
              <a:rPr lang="es-ES" dirty="0" err="1"/>
              <a:t>class</a:t>
            </a:r>
            <a:r>
              <a:rPr lang="es-ES" dirty="0"/>
              <a:t>) </a:t>
            </a:r>
            <a:br>
              <a:rPr lang="es-ES" dirty="0"/>
            </a:br>
            <a:endParaRPr lang="es-ES" dirty="0"/>
          </a:p>
          <a:p>
            <a:endParaRPr lang="es-ES" dirty="0"/>
          </a:p>
          <a:p>
            <a:endParaRPr lang="es-ES" dirty="0"/>
          </a:p>
          <a:p>
            <a:r>
              <a:rPr lang="es-ES" dirty="0" err="1"/>
              <a:t>Trained</a:t>
            </a:r>
            <a:r>
              <a:rPr lang="es-ES" dirty="0"/>
              <a:t> </a:t>
            </a:r>
            <a:r>
              <a:rPr lang="es-ES" dirty="0" err="1"/>
              <a:t>unsupervised</a:t>
            </a:r>
            <a:r>
              <a:rPr lang="es-ES" dirty="0"/>
              <a:t>: target = input </a:t>
            </a:r>
            <a:r>
              <a:rPr lang="es-ES" dirty="0" err="1"/>
              <a:t>itself</a:t>
            </a:r>
            <a:r>
              <a:rPr lang="es-ES" dirty="0"/>
              <a:t>, </a:t>
            </a:r>
            <a:r>
              <a:rPr lang="es-ES" dirty="0" err="1"/>
              <a:t>loss</a:t>
            </a:r>
            <a:r>
              <a:rPr lang="es-ES" dirty="0"/>
              <a:t> = MSE (</a:t>
            </a:r>
            <a:r>
              <a:rPr lang="es-ES" dirty="0" err="1"/>
              <a:t>reconstruction</a:t>
            </a:r>
            <a:r>
              <a:rPr lang="es-ES" dirty="0"/>
              <a:t> error) </a:t>
            </a:r>
            <a:br>
              <a:rPr lang="es-ES" dirty="0"/>
            </a:br>
            <a:endParaRPr lang="es-E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D398E43E-4E2F-A28A-4C25-E6CD788C29FA}"/>
              </a:ext>
            </a:extLst>
          </p:cNvPr>
          <p:cNvSpPr txBox="1"/>
          <p:nvPr/>
        </p:nvSpPr>
        <p:spPr>
          <a:xfrm>
            <a:off x="838200" y="603308"/>
            <a:ext cx="609467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dirty="0" err="1">
                <a:solidFill>
                  <a:srgbClr val="D51F3B"/>
                </a:solidFill>
              </a:rPr>
              <a:t>Objective</a:t>
            </a:r>
            <a:r>
              <a:rPr lang="es-ES" sz="4000" dirty="0">
                <a:solidFill>
                  <a:srgbClr val="D51F3B"/>
                </a:solidFill>
              </a:rPr>
              <a:t> &amp; Method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C28256D-D3C9-2F43-F30E-F073608232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523"/>
          <a:stretch>
            <a:fillRect/>
          </a:stretch>
        </p:blipFill>
        <p:spPr>
          <a:xfrm>
            <a:off x="713232" y="5919417"/>
            <a:ext cx="9525000" cy="847144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18E4EA75-D752-ABF4-D50B-2131F583BD8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8477" b="38858"/>
          <a:stretch>
            <a:fillRect/>
          </a:stretch>
        </p:blipFill>
        <p:spPr>
          <a:xfrm>
            <a:off x="10238232" y="5917983"/>
            <a:ext cx="1240536" cy="517959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1727B929-880B-6C92-FF62-2CCE35DEF0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581244"/>
            <a:ext cx="10622280" cy="1037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9033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D592C-61ED-024F-3F3B-8CA86C314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A107FC11-EB9D-F592-BD10-56E2770F010F}"/>
              </a:ext>
            </a:extLst>
          </p:cNvPr>
          <p:cNvSpPr txBox="1"/>
          <p:nvPr/>
        </p:nvSpPr>
        <p:spPr>
          <a:xfrm>
            <a:off x="838200" y="603308"/>
            <a:ext cx="731824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dirty="0" err="1">
                <a:solidFill>
                  <a:srgbClr val="D51F3B"/>
                </a:solidFill>
              </a:rPr>
              <a:t>Results</a:t>
            </a:r>
            <a:r>
              <a:rPr lang="es-ES" sz="4000" dirty="0">
                <a:solidFill>
                  <a:srgbClr val="D51F3B"/>
                </a:solidFill>
              </a:rPr>
              <a:t> </a:t>
            </a:r>
            <a:r>
              <a:rPr lang="en-US" sz="4000" dirty="0">
                <a:solidFill>
                  <a:srgbClr val="D51F3B"/>
                </a:solidFill>
              </a:rPr>
              <a:t>– Healthy (00_15)</a:t>
            </a:r>
            <a:r>
              <a:rPr lang="en-US" sz="4000" b="1" dirty="0">
                <a:solidFill>
                  <a:srgbClr val="D51F3B"/>
                </a:solidFill>
              </a:rPr>
              <a:t> </a:t>
            </a:r>
            <a:r>
              <a:rPr lang="es-ES" sz="4000" dirty="0">
                <a:solidFill>
                  <a:srgbClr val="D51F3B"/>
                </a:solidFill>
              </a:rPr>
              <a:t>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BD297CA-56A5-3ED6-6B58-6AE8ED3288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523"/>
          <a:stretch>
            <a:fillRect/>
          </a:stretch>
        </p:blipFill>
        <p:spPr>
          <a:xfrm>
            <a:off x="713232" y="5919417"/>
            <a:ext cx="9525000" cy="847144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903B50F1-648B-9AC5-F560-65C6C1B396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8477" b="38858"/>
          <a:stretch>
            <a:fillRect/>
          </a:stretch>
        </p:blipFill>
        <p:spPr>
          <a:xfrm>
            <a:off x="10238232" y="5917983"/>
            <a:ext cx="1240536" cy="517959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FAACEE66-14B3-F5A4-EC83-C415C6A768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232" y="2119258"/>
            <a:ext cx="10774680" cy="2840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7695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DF4CB-E1C5-2904-8D5A-4DD03D7F0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DBD69928-BDE9-820C-3BD7-FEFF38D6671E}"/>
              </a:ext>
            </a:extLst>
          </p:cNvPr>
          <p:cNvSpPr txBox="1"/>
          <p:nvPr/>
        </p:nvSpPr>
        <p:spPr>
          <a:xfrm>
            <a:off x="838200" y="603308"/>
            <a:ext cx="731824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dirty="0" err="1">
                <a:solidFill>
                  <a:srgbClr val="D51F3B"/>
                </a:solidFill>
              </a:rPr>
              <a:t>Results</a:t>
            </a:r>
            <a:r>
              <a:rPr lang="es-ES" sz="4000" dirty="0">
                <a:solidFill>
                  <a:srgbClr val="D51F3B"/>
                </a:solidFill>
              </a:rPr>
              <a:t> </a:t>
            </a:r>
            <a:r>
              <a:rPr lang="en-US" sz="4000" dirty="0">
                <a:solidFill>
                  <a:srgbClr val="D51F3B"/>
                </a:solidFill>
              </a:rPr>
              <a:t>– Faulty (10_15)</a:t>
            </a:r>
            <a:r>
              <a:rPr lang="en-US" sz="4000" b="1" dirty="0">
                <a:solidFill>
                  <a:srgbClr val="D51F3B"/>
                </a:solidFill>
              </a:rPr>
              <a:t> </a:t>
            </a:r>
            <a:r>
              <a:rPr lang="es-ES" sz="4000" dirty="0">
                <a:solidFill>
                  <a:srgbClr val="D51F3B"/>
                </a:solidFill>
              </a:rPr>
              <a:t>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A1FB047-7BCD-10D8-1C11-13408E33A6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523"/>
          <a:stretch>
            <a:fillRect/>
          </a:stretch>
        </p:blipFill>
        <p:spPr>
          <a:xfrm>
            <a:off x="713232" y="5919417"/>
            <a:ext cx="9525000" cy="847144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62A3DF7E-4B55-12B8-7E32-144C7A22721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8477" b="38858"/>
          <a:stretch>
            <a:fillRect/>
          </a:stretch>
        </p:blipFill>
        <p:spPr>
          <a:xfrm>
            <a:off x="10238232" y="5917983"/>
            <a:ext cx="1240536" cy="517959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F225801C-588F-8211-4CAE-9804542DA3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008" y="1974466"/>
            <a:ext cx="11355040" cy="2993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8871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6681A-8C26-EF93-858D-BC6B03998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3CAE4933-C99B-0848-DEC5-0D537E9F63CA}"/>
              </a:ext>
            </a:extLst>
          </p:cNvPr>
          <p:cNvSpPr txBox="1"/>
          <p:nvPr/>
        </p:nvSpPr>
        <p:spPr>
          <a:xfrm>
            <a:off x="838200" y="603308"/>
            <a:ext cx="731824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dirty="0" err="1">
                <a:solidFill>
                  <a:srgbClr val="D51F3B"/>
                </a:solidFill>
              </a:rPr>
              <a:t>Conclusion</a:t>
            </a:r>
            <a:endParaRPr lang="es-ES" sz="4000" dirty="0">
              <a:solidFill>
                <a:srgbClr val="D51F3B"/>
              </a:solidFill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C491720-3429-4345-5AF7-229A06F58D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523"/>
          <a:stretch>
            <a:fillRect/>
          </a:stretch>
        </p:blipFill>
        <p:spPr>
          <a:xfrm>
            <a:off x="713232" y="5919417"/>
            <a:ext cx="9525000" cy="847144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DAC09CB0-40CA-7067-6679-AD9115B1F01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8477" b="38858"/>
          <a:stretch>
            <a:fillRect/>
          </a:stretch>
        </p:blipFill>
        <p:spPr>
          <a:xfrm>
            <a:off x="10238232" y="5917983"/>
            <a:ext cx="1240536" cy="517959"/>
          </a:xfrm>
          <a:prstGeom prst="rect">
            <a:avLst/>
          </a:prstGeom>
        </p:spPr>
      </p:pic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4D67F54D-2953-E716-52DE-7E51A956DD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428999"/>
            <a:ext cx="10515600" cy="2747963"/>
          </a:xfrm>
        </p:spPr>
        <p:txBody>
          <a:bodyPr>
            <a:normAutofit/>
          </a:bodyPr>
          <a:lstStyle/>
          <a:p>
            <a:r>
              <a:rPr lang="es-ES" dirty="0"/>
              <a:t>Both </a:t>
            </a:r>
            <a:r>
              <a:rPr lang="es-ES" dirty="0" err="1"/>
              <a:t>classes</a:t>
            </a:r>
            <a:r>
              <a:rPr lang="es-ES" dirty="0"/>
              <a:t> </a:t>
            </a:r>
            <a:r>
              <a:rPr lang="es-ES" dirty="0" err="1"/>
              <a:t>reconstruct</a:t>
            </a:r>
            <a:r>
              <a:rPr lang="es-ES" dirty="0"/>
              <a:t> </a:t>
            </a:r>
            <a:r>
              <a:rPr lang="es-ES" dirty="0" err="1"/>
              <a:t>well</a:t>
            </a:r>
            <a:r>
              <a:rPr lang="es-ES" dirty="0"/>
              <a:t> – </a:t>
            </a:r>
            <a:r>
              <a:rPr lang="es-ES" dirty="0" err="1"/>
              <a:t>the</a:t>
            </a:r>
            <a:r>
              <a:rPr lang="es-ES" dirty="0"/>
              <a:t> 32-value </a:t>
            </a:r>
            <a:r>
              <a:rPr lang="es-ES" dirty="0" err="1"/>
              <a:t>latent</a:t>
            </a:r>
            <a:r>
              <a:rPr lang="es-ES" dirty="0"/>
              <a:t> vector preserves</a:t>
            </a:r>
            <a:br>
              <a:rPr lang="es-ES" dirty="0"/>
            </a:b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overall</a:t>
            </a:r>
            <a:r>
              <a:rPr lang="es-ES" dirty="0"/>
              <a:t> band </a:t>
            </a:r>
            <a:r>
              <a:rPr lang="es-ES" dirty="0" err="1"/>
              <a:t>pattern</a:t>
            </a:r>
            <a:endParaRPr lang="es-ES" dirty="0"/>
          </a:p>
          <a:p>
            <a:r>
              <a:rPr lang="es-ES" dirty="0" err="1"/>
              <a:t>Faulty</a:t>
            </a:r>
            <a:r>
              <a:rPr lang="es-ES" dirty="0"/>
              <a:t> </a:t>
            </a:r>
            <a:r>
              <a:rPr lang="es-ES" dirty="0" err="1"/>
              <a:t>images</a:t>
            </a:r>
            <a:r>
              <a:rPr lang="es-ES" dirty="0"/>
              <a:t> </a:t>
            </a:r>
            <a:r>
              <a:rPr lang="es-ES" dirty="0" err="1"/>
              <a:t>have</a:t>
            </a:r>
            <a:r>
              <a:rPr lang="es-ES" dirty="0"/>
              <a:t> a </a:t>
            </a:r>
            <a:r>
              <a:rPr lang="es-ES" dirty="0" err="1"/>
              <a:t>slightly</a:t>
            </a:r>
            <a:r>
              <a:rPr lang="es-ES" dirty="0"/>
              <a:t> </a:t>
            </a:r>
            <a:r>
              <a:rPr lang="es-ES" dirty="0" err="1"/>
              <a:t>higher</a:t>
            </a:r>
            <a:r>
              <a:rPr lang="es-ES" dirty="0"/>
              <a:t> error: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periodic</a:t>
            </a:r>
            <a:r>
              <a:rPr lang="es-ES" dirty="0"/>
              <a:t> </a:t>
            </a:r>
            <a:r>
              <a:rPr lang="es-ES" dirty="0" err="1"/>
              <a:t>peak</a:t>
            </a:r>
            <a:br>
              <a:rPr lang="es-ES" dirty="0"/>
            </a:br>
            <a:r>
              <a:rPr lang="es-ES" dirty="0" err="1"/>
              <a:t>pattern</a:t>
            </a:r>
            <a:r>
              <a:rPr lang="es-ES" dirty="0"/>
              <a:t> </a:t>
            </a:r>
            <a:r>
              <a:rPr lang="es-ES" dirty="0" err="1"/>
              <a:t>carries</a:t>
            </a:r>
            <a:r>
              <a:rPr lang="es-ES" dirty="0"/>
              <a:t> more </a:t>
            </a:r>
            <a:r>
              <a:rPr lang="es-ES" dirty="0" err="1"/>
              <a:t>high-frequency</a:t>
            </a:r>
            <a:r>
              <a:rPr lang="es-ES" dirty="0"/>
              <a:t> </a:t>
            </a:r>
            <a:r>
              <a:rPr lang="es-ES" dirty="0" err="1"/>
              <a:t>detail</a:t>
            </a:r>
            <a:r>
              <a:rPr lang="es-ES" dirty="0"/>
              <a:t> </a:t>
            </a:r>
            <a:r>
              <a:rPr lang="es-ES" dirty="0" err="1"/>
              <a:t>than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smooth</a:t>
            </a:r>
            <a:br>
              <a:rPr lang="es-ES" dirty="0"/>
            </a:br>
            <a:r>
              <a:rPr lang="es-ES" dirty="0" err="1"/>
              <a:t>healthy</a:t>
            </a:r>
            <a:r>
              <a:rPr lang="es-ES" dirty="0"/>
              <a:t> band, </a:t>
            </a:r>
            <a:r>
              <a:rPr lang="es-ES" dirty="0" err="1"/>
              <a:t>making</a:t>
            </a:r>
            <a:r>
              <a:rPr lang="es-ES" dirty="0"/>
              <a:t> </a:t>
            </a:r>
            <a:r>
              <a:rPr lang="es-ES" dirty="0" err="1"/>
              <a:t>it</a:t>
            </a:r>
            <a:r>
              <a:rPr lang="es-ES" dirty="0"/>
              <a:t> </a:t>
            </a:r>
            <a:r>
              <a:rPr lang="es-ES" dirty="0" err="1"/>
              <a:t>harder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compress</a:t>
            </a:r>
            <a:r>
              <a:rPr lang="es-ES" dirty="0"/>
              <a:t> </a:t>
            </a:r>
            <a:r>
              <a:rPr lang="es-ES" dirty="0" err="1"/>
              <a:t>into</a:t>
            </a:r>
            <a:r>
              <a:rPr lang="es-ES" dirty="0"/>
              <a:t> 32 </a:t>
            </a:r>
            <a:r>
              <a:rPr lang="es-ES" dirty="0" err="1"/>
              <a:t>numbers</a:t>
            </a:r>
            <a:r>
              <a:rPr lang="es-ES" dirty="0"/>
              <a:t> </a:t>
            </a:r>
            <a:br>
              <a:rPr lang="es-ES" dirty="0"/>
            </a:br>
            <a:endParaRPr lang="es-ES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C4CA7723-A7E6-DDB3-AB1B-B915A6100A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1784" y="1456922"/>
            <a:ext cx="8156448" cy="1826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763326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355</TotalTime>
  <Words>411</Words>
  <Application>Microsoft Office PowerPoint</Application>
  <PresentationFormat>Panorámica</PresentationFormat>
  <Paragraphs>60</Paragraphs>
  <Slides>20</Slides>
  <Notes>0</Notes>
  <HiddenSlides>0</HiddenSlides>
  <MMClips>2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4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For d and 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Javi Comes</dc:creator>
  <cp:lastModifiedBy>Javi Comes</cp:lastModifiedBy>
  <cp:revision>9</cp:revision>
  <dcterms:created xsi:type="dcterms:W3CDTF">2026-09-26T15:32:31Z</dcterms:created>
  <dcterms:modified xsi:type="dcterms:W3CDTF">2026-10-24T11:31:39Z</dcterms:modified>
</cp:coreProperties>
</file>